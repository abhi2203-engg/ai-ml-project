
<file path=[Content_Types].xml><?xml version="1.0" encoding="utf-8"?>
<Types xmlns="http://schemas.openxmlformats.org/package/2006/content-types">
  <Default Extension="xml" ContentType="application/xml"/>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5"/>
  </p:notesMasterIdLst>
  <p:sldIdLst>
    <p:sldId id="256" r:id="rId3"/>
    <p:sldId id="16140622" r:id="rId4"/>
    <p:sldId id="262" r:id="rId5"/>
    <p:sldId id="263" r:id="rId6"/>
    <p:sldId id="265" r:id="rId7"/>
    <p:sldId id="266" r:id="rId8"/>
    <p:sldId id="267" r:id="rId9"/>
    <p:sldId id="268" r:id="rId10"/>
    <p:sldId id="16140623" r:id="rId11"/>
    <p:sldId id="269" r:id="rId12"/>
    <p:sldId id="16140626" r:id="rId13"/>
    <p:sldId id="259"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4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customXml" Target="../customXml/item3.xml"/><Relationship Id="rId20" Type="http://schemas.openxmlformats.org/officeDocument/2006/relationships/customXml" Target="../customXml/item2.xml"/><Relationship Id="rId2" Type="http://schemas.openxmlformats.org/officeDocument/2006/relationships/theme" Target="theme/theme1.xml"/><Relationship Id="rId19" Type="http://schemas.openxmlformats.org/officeDocument/2006/relationships/customXml" Target="../customXml/item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notesMaster" Target="notesMasters/notesMaster1.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8" name="Date Placeholder 7"/>
          <p:cNvSpPr>
            <a:spLocks noGrp="1"/>
          </p:cNvSpPr>
          <p:nvPr>
            <p:ph type="dt" sz="half" idx="10"/>
          </p:nvPr>
        </p:nvSpPr>
        <p:spPr/>
        <p:txBody>
          <a:bodyPr/>
          <a:lstStyle/>
          <a:p>
            <a:fld id="{ED291B17-9318-49DB-B28B-6E5994AE9581}"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endParaRPr lang="en-US"/>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Date Placeholder 7"/>
          <p:cNvSpPr>
            <a:spLocks noGrp="1"/>
          </p:cNvSpPr>
          <p:nvPr>
            <p:ph type="dt" sz="half" idx="10"/>
          </p:nvPr>
        </p:nvSpPr>
        <p:spPr/>
        <p:txBody>
          <a:bodyPr/>
          <a:lstStyle/>
          <a:p>
            <a:fld id="{78DD82B9-B8EE-4375-B6FF-88FA6ABB15D9}" type="datetime1">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7" name="Date Placeholder 6"/>
          <p:cNvSpPr>
            <a:spLocks noGrp="1"/>
          </p:cNvSpPr>
          <p:nvPr>
            <p:ph type="dt" sz="half" idx="10"/>
          </p:nvPr>
        </p:nvSpPr>
        <p:spPr/>
        <p:txBody>
          <a:bodyPr/>
          <a:lstStyle/>
          <a:p>
            <a:fld id="{B2497495-0637-405E-AE64-5CC7506D51F5}"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endParaRPr lang="en-US"/>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7BFFD690-9426-415D-8B65-26881E07B2D4}"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a:pPr>
            <a:r>
              <a:rPr lang="en-US"/>
              <a:t>Click to edit Master text styles</a:t>
            </a:r>
            <a:endParaRPr lang="en-US"/>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04C4989A-474C-40DE-95B9-011C28B71673}" type="datetime1">
              <a:rPr lang="en-US" smtClean="0"/>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DB4ED54-5B5E-4A04-93D3-5772E3CE3818}" type="datetime1">
              <a:rPr lang="en-US" smtClean="0"/>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a:xfrm>
            <a:off x="7605951" y="6456916"/>
            <a:ext cx="2844799" cy="365125"/>
          </a:xfrm>
        </p:spPr>
        <p:txBody>
          <a:bodyPr/>
          <a:lstStyle/>
          <a:p>
            <a:fld id="{D82884F1-FFEA-405F-9602-3DCA865EDA4E}" type="datetime1">
              <a:rPr lang="en-US" smtClean="0"/>
            </a:fld>
            <a:endParaRPr lang="en-US"/>
          </a:p>
        </p:txBody>
      </p:sp>
      <p:sp>
        <p:nvSpPr>
          <p:cNvPr id="10" name="Footer Placeholder 9"/>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p:cNvSpPr>
            <a:spLocks noGrp="1"/>
          </p:cNvSpPr>
          <p:nvPr>
            <p:ph type="sldNum" sz="quarter" idx="12"/>
          </p:nvPr>
        </p:nvSpPr>
        <p:spPr>
          <a:xfrm>
            <a:off x="10558300" y="6456916"/>
            <a:ext cx="1052510" cy="365125"/>
          </a:xfrm>
        </p:spPr>
        <p:txBody>
          <a:bodyPr/>
          <a:lstStyle/>
          <a:p>
            <a:fld id="{3A98EE3D-8CD1-4C3F-BD1C-C98C9596463C}"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7E18DB4A-8810-4A10-AD5C-D5E2C667F5B3}"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CED4963-E985-44C4-B8C4-FDD613B7C2F8}" type="datetime1">
              <a:rPr lang="en-US" smtClean="0"/>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Rectangle 7"/>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p:cNvSpPr>
            <a:spLocks noGrp="1"/>
          </p:cNvSpPr>
          <p:nvPr>
            <p:ph type="dt" sz="half" idx="10"/>
          </p:nvPr>
        </p:nvSpPr>
        <p:spPr/>
        <p:txBody>
          <a:bodyPr/>
          <a:lstStyle/>
          <a:p>
            <a:fld id="{ED291B17-9318-49DB-B28B-6E5994AE9581}" type="datetime1">
              <a:rPr lang="en-US" smtClean="0"/>
            </a:fld>
            <a:endParaRPr lang="en-US"/>
          </a:p>
        </p:txBody>
      </p:sp>
      <p:sp>
        <p:nvSpPr>
          <p:cNvPr id="12" name="Footer Placeholder 11"/>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endParaRPr lang="en-US"/>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p:cNvPicPr>
            <a:picLocks noChangeAspect="1"/>
          </p:cNvPicPr>
          <p:nvPr userDrawn="1"/>
        </p:nvPicPr>
        <p:blipFill>
          <a:blip r:embed="rId12"/>
          <a:stretch>
            <a:fillRect/>
          </a:stretch>
        </p:blipFill>
        <p:spPr>
          <a:xfrm>
            <a:off x="10485003" y="6437910"/>
            <a:ext cx="1125805" cy="36512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70" indent="-30607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29920" indent="-30607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899795" indent="-26987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60"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105"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89992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27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49999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79971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59108" y="1821635"/>
            <a:ext cx="9144000" cy="977778"/>
          </a:xfrm>
        </p:spPr>
        <p:txBody>
          <a:bodyPr>
            <a:normAutofit fontScale="90000"/>
          </a:bodyPr>
          <a:lstStyle/>
          <a:p>
            <a:pPr algn="ctr"/>
            <a:r>
              <a:rPr lang="en-US" altLang="en-US" b="1" dirty="0">
                <a:solidFill>
                  <a:schemeClr val="accent1"/>
                </a:solidFill>
                <a:latin typeface="Arial" panose="020B0604020202020204" pitchFamily="34" charset="0"/>
                <a:cs typeface="Arial" panose="020B0604020202020204" pitchFamily="34" charset="0"/>
              </a:rPr>
              <a:t>Personalized Workout &amp; Diet Planner</a:t>
            </a:r>
            <a:endParaRPr lang="en-US" altLang="en-US" b="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panose="020B0604020202020204"/>
                <a:cs typeface="Arial" panose="020B0604020202020204"/>
              </a:rPr>
              <a:t>CAPSTONE PROJECT</a:t>
            </a:r>
            <a:endParaRPr lang="en-US" sz="3200" b="1">
              <a:solidFill>
                <a:schemeClr val="accent1">
                  <a:lumMod val="75000"/>
                </a:schemeClr>
              </a:solidFill>
              <a:latin typeface="Arial" panose="020B0604020202020204"/>
              <a:cs typeface="Arial" panose="020B0604020202020204"/>
            </a:endParaRPr>
          </a:p>
        </p:txBody>
      </p:sp>
      <p:sp>
        <p:nvSpPr>
          <p:cNvPr id="4" name="TextBox 3"/>
          <p:cNvSpPr txBox="1"/>
          <p:nvPr/>
        </p:nvSpPr>
        <p:spPr>
          <a:xfrm>
            <a:off x="3202196" y="4058588"/>
            <a:ext cx="7980183" cy="1322070"/>
          </a:xfrm>
          <a:prstGeom prst="rect">
            <a:avLst/>
          </a:prstGeom>
          <a:noFill/>
        </p:spPr>
        <p:txBody>
          <a:bodyPr wrap="square" lIns="91440" tIns="45720" rIns="91440" bIns="45720" rtlCol="0" anchor="t">
            <a:spAutoFit/>
          </a:bodyPr>
          <a:lstStyle/>
          <a:p>
            <a:r>
              <a:rPr lang="en-US" sz="2000" b="1" dirty="0">
                <a:solidFill>
                  <a:schemeClr val="accent1">
                    <a:lumMod val="75000"/>
                  </a:schemeClr>
                </a:solidFill>
                <a:latin typeface="Arial" panose="020B0604020202020204" pitchFamily="34" charset="0"/>
                <a:cs typeface="Arial" panose="020B0604020202020204" pitchFamily="34" charset="0"/>
              </a:rPr>
              <a:t>Presented By:</a:t>
            </a:r>
            <a:endParaRPr lang="en-US" sz="2000" b="1" dirty="0">
              <a:solidFill>
                <a:schemeClr val="accent1">
                  <a:lumMod val="75000"/>
                </a:schemeClr>
              </a:solidFill>
              <a:latin typeface="Arial" panose="020B0604020202020204" pitchFamily="34" charset="0"/>
              <a:cs typeface="Arial" panose="020B0604020202020204" pitchFamily="34" charset="0"/>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Student Name-  Abhilasha Jugalkishor Rathi</a:t>
            </a:r>
            <a:endParaRPr lang="en-US" sz="2000" b="1" dirty="0">
              <a:solidFill>
                <a:schemeClr val="accent1">
                  <a:lumMod val="75000"/>
                </a:schemeClr>
              </a:solidFill>
              <a:latin typeface="Arial" panose="020B0604020202020204"/>
              <a:cs typeface="Arial" panose="020B0604020202020204"/>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College Name-  Zeal College of Engineering and Research</a:t>
            </a:r>
            <a:endParaRPr lang="en-US" sz="2000" b="1" dirty="0">
              <a:solidFill>
                <a:schemeClr val="accent1">
                  <a:lumMod val="75000"/>
                </a:schemeClr>
              </a:solidFill>
              <a:latin typeface="Arial" panose="020B0604020202020204"/>
              <a:cs typeface="Arial" panose="020B0604020202020204"/>
            </a:endParaRPr>
          </a:p>
          <a:p>
            <a:pPr marL="457200" indent="-457200">
              <a:buAutoNum type="arabicPeriod"/>
            </a:pPr>
            <a:r>
              <a:rPr lang="en-US" sz="2000" b="1" dirty="0">
                <a:solidFill>
                  <a:schemeClr val="accent1">
                    <a:lumMod val="75000"/>
                  </a:schemeClr>
                </a:solidFill>
                <a:latin typeface="Arial" panose="020B0604020202020204"/>
                <a:cs typeface="Arial" panose="020B0604020202020204"/>
              </a:rPr>
              <a:t>Department- Computer Engineering</a:t>
            </a:r>
            <a:endParaRPr lang="en-US" sz="2000" b="1" dirty="0">
              <a:solidFill>
                <a:schemeClr val="accent1">
                  <a:lumMod val="75000"/>
                </a:schemeClr>
              </a:solidFill>
              <a:latin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endParaRPr lang="en-US" b="1">
              <a:solidFill>
                <a:srgbClr val="002060"/>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838200" y="1884680"/>
            <a:ext cx="11019155" cy="4284345"/>
          </a:xfrm>
        </p:spPr>
        <p:txBody>
          <a:bodyPr vert="horz" lIns="91440" tIns="45720" rIns="91440" bIns="45720" rtlCol="0" anchor="t">
            <a:noAutofit/>
          </a:bodyPr>
          <a:lstStyle/>
          <a:p>
            <a:pPr marL="0" indent="0">
              <a:buNone/>
            </a:pPr>
            <a:r>
              <a:rPr lang="en-US" sz="2000" b="1" dirty="0">
                <a:latin typeface="Arial" panose="020B0604020202020204"/>
                <a:ea typeface="+mn-lt"/>
                <a:cs typeface="Arial" panose="020B0604020202020204"/>
              </a:rPr>
              <a:t>  </a:t>
            </a:r>
            <a:endParaRPr lang="en-US" dirty="0">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Problem Statement (Should not include solution)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Proposed System/Solution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Calibri" panose="020F0502020204030204"/>
              </a:rPr>
              <a:t>System </a:t>
            </a:r>
            <a:r>
              <a:rPr lang="en-US" sz="2000" dirty="0">
                <a:solidFill>
                  <a:schemeClr val="tx1">
                    <a:lumMod val="75000"/>
                    <a:lumOff val="25000"/>
                  </a:schemeClr>
                </a:solidFill>
                <a:uFillTx/>
                <a:latin typeface="Arial" panose="020B0604020202020204"/>
                <a:ea typeface="+mn-lt"/>
                <a:cs typeface="+mn-lt"/>
              </a:rPr>
              <a:t>Development Approach (Technology Used) </a:t>
            </a:r>
            <a:endParaRPr lang="en-US" sz="2000" dirty="0">
              <a:solidFill>
                <a:schemeClr val="tx1">
                  <a:lumMod val="75000"/>
                  <a:lumOff val="25000"/>
                </a:schemeClr>
              </a:solidFill>
              <a:uFillTx/>
              <a:latin typeface="Arial" panose="020B0604020202020204"/>
              <a:ea typeface="+mn-lt"/>
              <a:cs typeface="+mn-lt"/>
            </a:endParaRPr>
          </a:p>
          <a:p>
            <a:r>
              <a:rPr lang="en-US" sz="2000" dirty="0">
                <a:solidFill>
                  <a:schemeClr val="tx1">
                    <a:lumMod val="75000"/>
                    <a:lumOff val="25000"/>
                  </a:schemeClr>
                </a:solidFill>
                <a:uFillTx/>
                <a:latin typeface="Arial" panose="020B0604020202020204"/>
                <a:ea typeface="+mn-lt"/>
                <a:cs typeface="+mn-lt"/>
              </a:rPr>
              <a:t>Algorithm &amp; Deployment  </a:t>
            </a:r>
            <a:endParaRPr lang="en-US" sz="2000" dirty="0">
              <a:solidFill>
                <a:schemeClr val="tx1">
                  <a:lumMod val="75000"/>
                  <a:lumOff val="25000"/>
                </a:schemeClr>
              </a:solidFill>
              <a:uFillTx/>
              <a:latin typeface="Arial" panose="020B0604020202020204"/>
              <a:cs typeface="Calibri" panose="020F0502020204030204"/>
            </a:endParaRPr>
          </a:p>
          <a:p>
            <a:r>
              <a:rPr lang="en-US" sz="2000" dirty="0">
                <a:solidFill>
                  <a:schemeClr val="tx1">
                    <a:lumMod val="75000"/>
                    <a:lumOff val="25000"/>
                  </a:schemeClr>
                </a:solidFill>
                <a:uFillTx/>
                <a:latin typeface="Arial" panose="020B0604020202020204"/>
                <a:ea typeface="+mn-lt"/>
                <a:cs typeface="Arial" panose="020B0604020202020204"/>
              </a:rPr>
              <a:t>Result</a:t>
            </a:r>
            <a:endParaRPr lang="en-US" sz="2000" dirty="0">
              <a:solidFill>
                <a:schemeClr val="tx1">
                  <a:lumMod val="75000"/>
                  <a:lumOff val="25000"/>
                </a:schemeClr>
              </a:solidFill>
              <a:uFillTx/>
              <a:latin typeface="Arial" panose="020B0604020202020204"/>
              <a:ea typeface="+mn-lt"/>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Conclusion</a:t>
            </a:r>
            <a:endParaRPr lang="en-US" sz="2000" dirty="0">
              <a:solidFill>
                <a:schemeClr val="tx1">
                  <a:lumMod val="75000"/>
                  <a:lumOff val="25000"/>
                </a:schemeClr>
              </a:solidFill>
              <a:uFillTx/>
              <a:latin typeface="Arial" panose="020B0604020202020204"/>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Future Scope</a:t>
            </a:r>
            <a:endParaRPr lang="en-US" sz="2000" dirty="0">
              <a:solidFill>
                <a:schemeClr val="tx1">
                  <a:lumMod val="75000"/>
                  <a:lumOff val="25000"/>
                </a:schemeClr>
              </a:solidFill>
              <a:uFillTx/>
              <a:latin typeface="Arial" panose="020B0604020202020204"/>
              <a:ea typeface="+mn-lt"/>
              <a:cs typeface="Arial" panose="020B0604020202020204"/>
            </a:endParaRPr>
          </a:p>
          <a:p>
            <a:r>
              <a:rPr lang="en-US" sz="2000" dirty="0">
                <a:solidFill>
                  <a:schemeClr val="tx1">
                    <a:lumMod val="75000"/>
                    <a:lumOff val="25000"/>
                  </a:schemeClr>
                </a:solidFill>
                <a:uFillTx/>
                <a:latin typeface="Arial" panose="020B0604020202020204"/>
                <a:ea typeface="+mn-lt"/>
                <a:cs typeface="Arial" panose="020B0604020202020204"/>
              </a:rPr>
              <a:t>References</a:t>
            </a:r>
            <a:endParaRPr lang="en-US" sz="2000" dirty="0">
              <a:solidFill>
                <a:schemeClr val="tx1">
                  <a:lumMod val="75000"/>
                  <a:lumOff val="25000"/>
                </a:schemeClr>
              </a:solidFill>
              <a:uFillTx/>
              <a:latin typeface="Arial" panose="020B0604020202020204"/>
              <a:cs typeface="Arial" panose="020B0604020202020204"/>
            </a:endParaRPr>
          </a:p>
          <a:p>
            <a:endParaRPr lang="en-US" sz="2000" dirty="0">
              <a:solidFill>
                <a:schemeClr val="tx1">
                  <a:lumMod val="75000"/>
                  <a:lumOff val="25000"/>
                </a:schemeClr>
              </a:solidFill>
              <a:uFillTx/>
              <a:latin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p:cNvSpPr>
            <a:spLocks noGrp="1"/>
          </p:cNvSpPr>
          <p:nvPr>
            <p:ph idx="1"/>
          </p:nvPr>
        </p:nvSpPr>
        <p:spPr>
          <a:xfrm>
            <a:off x="452403" y="1237632"/>
            <a:ext cx="11029615" cy="4673324"/>
          </a:xfrm>
        </p:spPr>
        <p:txBody>
          <a:bodyPr>
            <a:normAutofit/>
          </a:bodyPr>
          <a:lstStyle/>
          <a:p>
            <a:pPr marL="0" indent="0">
              <a:buNone/>
            </a:pPr>
            <a:r>
              <a:rPr lang="en-US" sz="2400" dirty="0"/>
              <a:t>.</a:t>
            </a:r>
            <a:endParaRPr lang="en-IN" sz="1400" dirty="0"/>
          </a:p>
        </p:txBody>
      </p:sp>
      <p:sp>
        <p:nvSpPr>
          <p:cNvPr id="3" name="TextBox 2"/>
          <p:cNvSpPr txBox="1"/>
          <p:nvPr/>
        </p:nvSpPr>
        <p:spPr>
          <a:xfrm>
            <a:off x="887676" y="2096966"/>
            <a:ext cx="10159067" cy="2676525"/>
          </a:xfrm>
          <a:prstGeom prst="rect">
            <a:avLst/>
          </a:prstGeom>
          <a:noFill/>
        </p:spPr>
        <p:txBody>
          <a:bodyPr wrap="square" rtlCol="0">
            <a:spAutoFit/>
          </a:bodyPr>
          <a:lstStyle/>
          <a:p>
            <a:r>
              <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rPr>
              <a:t>In today’s fast-paced lifestyle, many individuals struggle to maintain proper fitness and nutrition due to lack of personalized guidance. Most available workout and diet plans are generic and do not consider individual parameters such as age, weight, height, activity level, and fitness goals. This leads to ineffective results, poor health management, and lack of motivation. There is a need for a system that can analyze personal health data and provide customized fitness recommendations.</a:t>
            </a:r>
            <a:endPar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p:cNvSpPr>
            <a:spLocks noGrp="1"/>
          </p:cNvSpPr>
          <p:nvPr>
            <p:ph idx="1"/>
          </p:nvPr>
        </p:nvSpPr>
        <p:spPr>
          <a:xfrm>
            <a:off x="441671" y="1087378"/>
            <a:ext cx="11613485" cy="5563973"/>
          </a:xfrm>
        </p:spPr>
        <p:txBody>
          <a:bodyPr vert="horz" lIns="91440" tIns="45720" rIns="91440" bIns="45720" rtlCol="0" anchor="ctr">
            <a:noAutofit/>
          </a:bodyPr>
          <a:lstStyle/>
          <a:p>
            <a:pPr marL="305435" indent="-305435"/>
            <a:endParaRPr lang="en-IN" sz="1600" dirty="0"/>
          </a:p>
          <a:p>
            <a:pPr marL="0" indent="0">
              <a:buNone/>
            </a:pPr>
            <a:endParaRPr lang="en-IN" dirty="0"/>
          </a:p>
        </p:txBody>
      </p:sp>
      <p:sp>
        <p:nvSpPr>
          <p:cNvPr id="3" name="TextBox 2"/>
          <p:cNvSpPr txBox="1"/>
          <p:nvPr/>
        </p:nvSpPr>
        <p:spPr>
          <a:xfrm>
            <a:off x="830511" y="1617674"/>
            <a:ext cx="10508050" cy="2306955"/>
          </a:xfrm>
          <a:prstGeom prst="rect">
            <a:avLst/>
          </a:prstGeom>
          <a:noFill/>
        </p:spPr>
        <p:txBody>
          <a:bodyPr wrap="square" rtlCol="0">
            <a:spAutoFit/>
          </a:bodyPr>
          <a:lstStyle/>
          <a:p>
            <a:r>
              <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rPr>
              <a:t>The proposed system is an AI-based Personalized Workout &amp; Diet Planner that predicts daily calorie requirements using Machine Learning and provides customized workout and diet plans. The system collects user inputs such as age, weight, height, activity level, and goal (weight loss, muscle gain, maintenance). Based on these inputs, it generates intelligent recommendations through a simple and user-friendly interface.</a:t>
            </a:r>
            <a:endParaRPr 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581192" y="662572"/>
            <a:ext cx="11029616" cy="530296"/>
          </a:xfrm>
        </p:spPr>
        <p:txBody>
          <a:bodyPr>
            <a:normAutofit fontScale="90000"/>
          </a:bodyPr>
          <a:lstStyle/>
          <a:p>
            <a:r>
              <a:rPr lang="en-US" sz="4400" b="1" dirty="0">
                <a:solidFill>
                  <a:schemeClr val="accent1"/>
                </a:solidFill>
                <a:latin typeface="Arial" panose="020B0604020202020204"/>
                <a:ea typeface="+mj-lt"/>
                <a:cs typeface="Arial" panose="020B0604020202020204"/>
              </a:rPr>
              <a:t>System  Approach</a:t>
            </a:r>
            <a:endParaRPr lang="en-US" sz="4400" dirty="0">
              <a:solidFill>
                <a:schemeClr val="accent1"/>
              </a:solidFill>
              <a:latin typeface="Calibri Light" panose="020F0302020204030204"/>
              <a:cs typeface="Calibri Light" panose="020F0302020204030204"/>
            </a:endParaRPr>
          </a:p>
        </p:txBody>
      </p:sp>
      <p:sp>
        <p:nvSpPr>
          <p:cNvPr id="3" name="Rectangle 1"/>
          <p:cNvSpPr>
            <a:spLocks noGrp="1" noChangeArrowheads="1"/>
          </p:cNvSpPr>
          <p:nvPr>
            <p:ph idx="1"/>
          </p:nvPr>
        </p:nvSpPr>
        <p:spPr bwMode="auto">
          <a:xfrm>
            <a:off x="1283516" y="2084705"/>
            <a:ext cx="8422546" cy="3784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The system is developed using the following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technologies:Python</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Core programming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languageMachine</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Learning (Scikit-learn) – For building calorie prediction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modelNumPy</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For numerical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computationsPickle</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For saving and loading trained ML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modelStreamlit</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 Flask – For creating interactive web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applicationHTML</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&amp; CSS – For frontend design (if Flask is used)VS Code – Development environment</a:t>
            </a:r>
            <a:endPar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lang="en-US" altLang="en-US" sz="2400" dirty="0">
              <a:solidFill>
                <a:schemeClr val="tx1"/>
              </a:solidFill>
              <a:uFillTx/>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The model is trained using fitness-related datasets and stored as a .</a:t>
            </a:r>
            <a:r>
              <a:rPr kumimoji="0" lang="en-US" altLang="en-US" sz="2400" b="0" i="0" baseline="0" dirty="0" err="1">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pkl</a:t>
            </a:r>
            <a:r>
              <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rPr>
              <a:t> file for deployment.</a:t>
            </a:r>
            <a:endParaRPr kumimoji="0" lang="en-US" altLang="en-US" sz="2400" b="0" i="0" baseline="0" dirty="0">
              <a:ln>
                <a:noFill/>
              </a:ln>
              <a:solidFill>
                <a:schemeClr val="tx1"/>
              </a:solidFill>
              <a:effectLst/>
              <a:uFillTx/>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Algorithm &amp; Deployment</a:t>
            </a:r>
            <a:endParaRPr lang="en-US"/>
          </a:p>
        </p:txBody>
      </p:sp>
      <p:sp>
        <p:nvSpPr>
          <p:cNvPr id="3" name="Rectangle 1"/>
          <p:cNvSpPr>
            <a:spLocks noGrp="1" noChangeArrowheads="1"/>
          </p:cNvSpPr>
          <p:nvPr>
            <p:ph idx="1"/>
          </p:nvPr>
        </p:nvSpPr>
        <p:spPr bwMode="auto">
          <a:xfrm>
            <a:off x="581192" y="3315522"/>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p:cNvSpPr txBox="1"/>
          <p:nvPr/>
        </p:nvSpPr>
        <p:spPr>
          <a:xfrm>
            <a:off x="1048624" y="1468073"/>
            <a:ext cx="10301681" cy="4892675"/>
          </a:xfrm>
          <a:prstGeom prst="rect">
            <a:avLst/>
          </a:prstGeom>
          <a:noFill/>
        </p:spPr>
        <p:txBody>
          <a:bodyPr wrap="square" rtlCol="0">
            <a:spAutoFit/>
          </a:bodyPr>
          <a:lstStyle/>
          <a:p>
            <a:r>
              <a:rPr lang="en-IN" sz="2400" dirty="0">
                <a:solidFill>
                  <a:schemeClr val="tx1"/>
                </a:solidFill>
                <a:uFillTx/>
                <a:latin typeface="Calibri" panose="020F0502020204030204" pitchFamily="34" charset="0"/>
              </a:rPr>
              <a:t>Algorithm Steps:</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Collect user inputs (age, weight, height, activity level, goal)</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Preprocess and convert data into numerical </a:t>
            </a:r>
            <a:r>
              <a:rPr lang="en-IN" sz="2400" dirty="0" err="1">
                <a:solidFill>
                  <a:schemeClr val="tx1"/>
                </a:solidFill>
                <a:uFillTx/>
                <a:latin typeface="Calibri" panose="020F0502020204030204" pitchFamily="34" charset="0"/>
              </a:rPr>
              <a:t>formatLoad</a:t>
            </a:r>
            <a:r>
              <a:rPr lang="en-IN" sz="2400" dirty="0">
                <a:solidFill>
                  <a:schemeClr val="tx1"/>
                </a:solidFill>
                <a:uFillTx/>
                <a:latin typeface="Calibri" panose="020F0502020204030204" pitchFamily="34" charset="0"/>
              </a:rPr>
              <a:t> trained ML model</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Predict daily calorie requirement</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Generate workout plan based on </a:t>
            </a:r>
            <a:r>
              <a:rPr lang="en-IN" sz="2400" dirty="0" err="1">
                <a:solidFill>
                  <a:schemeClr val="tx1"/>
                </a:solidFill>
                <a:uFillTx/>
                <a:latin typeface="Calibri" panose="020F0502020204030204" pitchFamily="34" charset="0"/>
              </a:rPr>
              <a:t>goalGenerate</a:t>
            </a:r>
            <a:r>
              <a:rPr lang="en-IN" sz="2400" dirty="0">
                <a:solidFill>
                  <a:schemeClr val="tx1"/>
                </a:solidFill>
                <a:uFillTx/>
                <a:latin typeface="Calibri" panose="020F0502020204030204" pitchFamily="34" charset="0"/>
              </a:rPr>
              <a:t> diet recommendation</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Display results on web interface</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Deployment:</a:t>
            </a:r>
            <a:endParaRPr lang="en-IN" sz="2400" dirty="0">
              <a:solidFill>
                <a:schemeClr val="tx1"/>
              </a:solidFill>
              <a:uFillTx/>
              <a:latin typeface="Calibri" panose="020F0502020204030204" pitchFamily="34" charset="0"/>
            </a:endParaRPr>
          </a:p>
          <a:p>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Application deployed locally using </a:t>
            </a:r>
            <a:r>
              <a:rPr lang="en-IN" sz="2400" dirty="0" err="1">
                <a:solidFill>
                  <a:schemeClr val="tx1"/>
                </a:solidFill>
                <a:uFillTx/>
                <a:latin typeface="Calibri" panose="020F0502020204030204" pitchFamily="34" charset="0"/>
              </a:rPr>
              <a:t>Streamlit</a:t>
            </a:r>
            <a:r>
              <a:rPr lang="en-IN" sz="2400" dirty="0">
                <a:solidFill>
                  <a:schemeClr val="tx1"/>
                </a:solidFill>
                <a:uFillTx/>
                <a:latin typeface="Calibri" panose="020F0502020204030204" pitchFamily="34" charset="0"/>
              </a:rPr>
              <a:t> / </a:t>
            </a:r>
            <a:r>
              <a:rPr lang="en-IN" sz="2400" dirty="0" err="1">
                <a:solidFill>
                  <a:schemeClr val="tx1"/>
                </a:solidFill>
                <a:uFillTx/>
                <a:latin typeface="Calibri" panose="020F0502020204030204" pitchFamily="34" charset="0"/>
              </a:rPr>
              <a:t>FlaskRuns</a:t>
            </a:r>
            <a:r>
              <a:rPr lang="en-IN" sz="2400" dirty="0">
                <a:solidFill>
                  <a:schemeClr val="tx1"/>
                </a:solidFill>
                <a:uFillTx/>
                <a:latin typeface="Calibri" panose="020F0502020204030204" pitchFamily="34" charset="0"/>
              </a:rPr>
              <a:t> on localhost </a:t>
            </a:r>
            <a:r>
              <a:rPr lang="en-IN" sz="2400" dirty="0" err="1">
                <a:solidFill>
                  <a:schemeClr val="tx1"/>
                </a:solidFill>
                <a:uFillTx/>
                <a:latin typeface="Calibri" panose="020F0502020204030204" pitchFamily="34" charset="0"/>
              </a:rPr>
              <a:t>serverModel</a:t>
            </a:r>
            <a:r>
              <a:rPr lang="en-IN" sz="2400" dirty="0">
                <a:solidFill>
                  <a:schemeClr val="tx1"/>
                </a:solidFill>
                <a:uFillTx/>
                <a:latin typeface="Calibri" panose="020F0502020204030204" pitchFamily="34" charset="0"/>
              </a:rPr>
              <a:t> integrated using Pickle file</a:t>
            </a:r>
            <a:endParaRPr lang="en-IN" sz="2400" dirty="0">
              <a:solidFill>
                <a:schemeClr val="tx1"/>
              </a:solidFill>
              <a:uFillTx/>
              <a:latin typeface="Calibri" panose="020F0502020204030204" pitchFamily="34" charset="0"/>
            </a:endParaRPr>
          </a:p>
          <a:p>
            <a:r>
              <a:rPr lang="en-IN" sz="2400" dirty="0">
                <a:solidFill>
                  <a:schemeClr val="tx1"/>
                </a:solidFill>
                <a:uFillTx/>
                <a:latin typeface="Calibri" panose="020F0502020204030204" pitchFamily="34" charset="0"/>
              </a:rPr>
              <a:t>Can be deployed on cloud platforms in future</a:t>
            </a:r>
            <a:endParaRPr lang="en-IN" sz="2400" dirty="0">
              <a:solidFill>
                <a:schemeClr val="tx1"/>
              </a:solidFill>
              <a:uFillTx/>
              <a:latin typeface="Calibri" panose="020F050202020403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Result</a:t>
            </a:r>
            <a:endParaRPr lang="en-US"/>
          </a:p>
        </p:txBody>
      </p:sp>
      <p:sp>
        <p:nvSpPr>
          <p:cNvPr id="3" name="Rectangle 1"/>
          <p:cNvSpPr>
            <a:spLocks noGrp="1" noChangeArrowheads="1"/>
          </p:cNvSpPr>
          <p:nvPr>
            <p:ph idx="1"/>
          </p:nvPr>
        </p:nvSpPr>
        <p:spPr bwMode="auto">
          <a:xfrm>
            <a:off x="581025" y="1696720"/>
            <a:ext cx="10478770" cy="4689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noAutofit/>
          </a:bodyPr>
          <a:lstStyle/>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system successfully predicts daily calorie requirements based on user inputs.</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It generates customized workout and diet plans aligned with user fitness goals.</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application provides instant results with a user-friendly interface.</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Char char="•"/>
            </a:pPr>
            <a:r>
              <a:rPr kumimoji="0" lang="en-US" altLang="en-US" sz="2400" b="0" i="0" baseline="0" dirty="0">
                <a:ln>
                  <a:noFill/>
                </a:ln>
                <a:solidFill>
                  <a:schemeClr val="tx1"/>
                </a:solidFill>
                <a:effectLst/>
                <a:uFillTx/>
                <a:latin typeface="Calibri" panose="020F0502020204030204" pitchFamily="34" charset="0"/>
              </a:rPr>
              <a:t>The model shows good accuracy and practical usability for fitness planning.</a:t>
            </a:r>
            <a:endParaRPr kumimoji="0" lang="en-US" altLang="en-US" sz="2400" b="0" i="0" baseline="0" dirty="0">
              <a:ln>
                <a:noFill/>
              </a:ln>
              <a:solidFill>
                <a:schemeClr val="tx1"/>
              </a:solidFill>
              <a:effectLst/>
              <a:uFillTx/>
              <a:latin typeface="Calibri" panose="020F0502020204030204" pitchFamily="34" charset="0"/>
            </a:endParaRPr>
          </a:p>
          <a:p>
            <a:pPr marL="0" marR="0" lvl="0" indent="0" algn="just" defTabSz="914400" rtl="0" eaLnBrk="0" fontAlgn="base" latinLnBrk="0" hangingPunct="0">
              <a:lnSpc>
                <a:spcPct val="150000"/>
              </a:lnSpc>
              <a:spcBef>
                <a:spcPct val="0"/>
              </a:spcBef>
              <a:spcAft>
                <a:spcPct val="0"/>
              </a:spcAft>
              <a:buClrTx/>
              <a:buSzTx/>
              <a:buFontTx/>
              <a:buNone/>
            </a:pPr>
            <a:endParaRPr kumimoji="0" lang="en-US" altLang="en-US" sz="2400" b="0" i="0" baseline="0" dirty="0">
              <a:ln>
                <a:noFill/>
              </a:ln>
              <a:solidFill>
                <a:schemeClr val="tx1"/>
              </a:solidFill>
              <a:effectLst/>
              <a:uFillTx/>
              <a:latin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Conclusion</a:t>
            </a:r>
            <a:endParaRPr lang="en-US"/>
          </a:p>
        </p:txBody>
      </p:sp>
      <p:sp>
        <p:nvSpPr>
          <p:cNvPr id="2" name="Content Placeholder 1"/>
          <p:cNvSpPr>
            <a:spLocks noGrp="1"/>
          </p:cNvSpPr>
          <p:nvPr>
            <p:ph idx="1"/>
          </p:nvPr>
        </p:nvSpPr>
        <p:spPr/>
        <p:txBody>
          <a:bodyPr>
            <a:normAutofit/>
          </a:bodyPr>
          <a:lstStyle/>
          <a:p>
            <a:pPr marL="305435" indent="-305435"/>
            <a:r>
              <a:rPr lang="en-US" altLang="en-US" sz="2400" dirty="0">
                <a:solidFill>
                  <a:schemeClr val="tx1">
                    <a:lumMod val="75000"/>
                    <a:lumOff val="25000"/>
                  </a:schemeClr>
                </a:solidFill>
                <a:uFillTx/>
                <a:latin typeface="Calibri" panose="020F0502020204030204" pitchFamily="34" charset="0"/>
              </a:rPr>
              <a:t>The AI Personalized Workout &amp; Diet Planner demonstrates how Machine Learning can be effectively applied in the health and fitness domain. The system provides personalized, data-driven fitness guidance, improving user engagement and planning efficiency. It reduces dependency on generic fitness advice and promotes smarter health management.</a:t>
            </a:r>
            <a:endParaRPr lang="en-US" altLang="en-US" sz="2400" dirty="0">
              <a:solidFill>
                <a:schemeClr val="tx1">
                  <a:lumMod val="75000"/>
                  <a:lumOff val="25000"/>
                </a:schemeClr>
              </a:solidFill>
              <a:uFillTx/>
              <a:latin typeface="Calibri" panose="020F050202020403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txBox="1"/>
          <p:nvPr/>
        </p:nvSpPr>
        <p:spPr>
          <a:xfrm>
            <a:off x="535670" y="844659"/>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panose="020B0604020202020204"/>
                <a:cs typeface="Arial" panose="020B0604020202020204"/>
              </a:rPr>
              <a:t>Future scope</a:t>
            </a:r>
            <a:endParaRPr lang="en-US" sz="4400" b="1" dirty="0">
              <a:solidFill>
                <a:schemeClr val="accent1"/>
              </a:solidFill>
              <a:latin typeface="Arial" panose="020B0604020202020204"/>
              <a:cs typeface="Arial" panose="020B0604020202020204"/>
            </a:endParaRPr>
          </a:p>
        </p:txBody>
      </p:sp>
      <p:sp>
        <p:nvSpPr>
          <p:cNvPr id="7" name="Rectangle 3"/>
          <p:cNvSpPr>
            <a:spLocks noChangeArrowheads="1"/>
          </p:cNvSpPr>
          <p:nvPr/>
        </p:nvSpPr>
        <p:spPr bwMode="auto">
          <a:xfrm>
            <a:off x="778933" y="2990334"/>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 Box 1"/>
          <p:cNvSpPr txBox="1"/>
          <p:nvPr/>
        </p:nvSpPr>
        <p:spPr>
          <a:xfrm>
            <a:off x="535940" y="1656715"/>
            <a:ext cx="10823575" cy="4362450"/>
          </a:xfrm>
          <a:prstGeom prst="rect">
            <a:avLst/>
          </a:prstGeom>
        </p:spPr>
        <p:txBody>
          <a:bodyPr>
            <a:noAutofit/>
          </a:bodyPr>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Integration with wearable fitness devices</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Real-time calorie and activity tracking</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Mobile application development</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Advanced Deep Learning models for improved accuracy</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AI chatbot for interactive fitness guidance</a:t>
            </a:r>
            <a:endParaRPr sz="2400" b="0" i="0">
              <a:solidFill>
                <a:srgbClr val="222222"/>
              </a:solidFill>
              <a:uFillTx/>
              <a:latin typeface="Calibri" panose="020F0502020204030204" pitchFamily="34" charset="0"/>
              <a:ea typeface="Arial" panose="020B0604020202020204"/>
            </a:endParaRPr>
          </a:p>
          <a:p>
            <a:pPr marL="142875" indent="0">
              <a:buFont typeface="Arial" panose="020B0604020202020204"/>
              <a:buChar char="•"/>
            </a:pPr>
            <a:r>
              <a:rPr sz="2400" b="0" i="0">
                <a:solidFill>
                  <a:srgbClr val="222222"/>
                </a:solidFill>
                <a:uFillTx/>
                <a:latin typeface="Calibri" panose="020F0502020204030204" pitchFamily="34" charset="0"/>
                <a:ea typeface="Arial" panose="020B0604020202020204"/>
              </a:rPr>
              <a:t>Cloud deployment for global accessibility</a:t>
            </a:r>
            <a:endParaRPr sz="2400" b="0" i="0">
              <a:solidFill>
                <a:srgbClr val="222222"/>
              </a:solidFill>
              <a:uFillTx/>
              <a:latin typeface="Calibri" panose="020F0502020204030204" pitchFamily="34" charset="0"/>
              <a:ea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References</a:t>
            </a:r>
            <a:endParaRPr lang="en-US"/>
          </a:p>
        </p:txBody>
      </p:sp>
      <p:sp>
        <p:nvSpPr>
          <p:cNvPr id="10" name="TextBox 9"/>
          <p:cNvSpPr txBox="1"/>
          <p:nvPr/>
        </p:nvSpPr>
        <p:spPr>
          <a:xfrm>
            <a:off x="668655" y="1477645"/>
            <a:ext cx="10774045" cy="4028440"/>
          </a:xfrm>
          <a:prstGeom prst="rect">
            <a:avLst/>
          </a:prstGeom>
          <a:noFill/>
        </p:spPr>
        <p:txBody>
          <a:bodyPr wrap="square">
            <a:noAutofit/>
          </a:bodyPr>
          <a:lstStyle/>
          <a:p>
            <a:endParaRPr lang="en-IN" dirty="0"/>
          </a:p>
          <a:p>
            <a:r>
              <a:rPr lang="en-US" altLang="en-US" sz="2400" dirty="0">
                <a:solidFill>
                  <a:schemeClr val="tx1"/>
                </a:solidFill>
                <a:uFillTx/>
                <a:latin typeface="Calibri" panose="020F0502020204030204" pitchFamily="34" charset="0"/>
              </a:rPr>
              <a:t>1. Scikit-learn Official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2. Streamlit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3. Flask Documentation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4. Research papers on BMR and calorie prediction</a:t>
            </a:r>
            <a:endParaRPr lang="en-US" altLang="en-US" sz="2400" dirty="0">
              <a:solidFill>
                <a:schemeClr val="tx1"/>
              </a:solidFill>
              <a:uFillTx/>
              <a:latin typeface="Calibri" panose="020F0502020204030204" pitchFamily="34" charset="0"/>
            </a:endParaRPr>
          </a:p>
          <a:p>
            <a:endParaRPr lang="en-US" altLang="en-US" sz="2400" dirty="0">
              <a:solidFill>
                <a:schemeClr val="tx1"/>
              </a:solidFill>
              <a:uFillTx/>
              <a:latin typeface="Calibri" panose="020F0502020204030204" pitchFamily="34" charset="0"/>
            </a:endParaRPr>
          </a:p>
          <a:p>
            <a:r>
              <a:rPr lang="en-US" altLang="en-US" sz="2400" dirty="0">
                <a:solidFill>
                  <a:schemeClr val="tx1"/>
                </a:solidFill>
                <a:uFillTx/>
                <a:latin typeface="Calibri" panose="020F0502020204030204" pitchFamily="34" charset="0"/>
              </a:rPr>
              <a:t>5. Public fitness datasets (e.g., Kaggle)</a:t>
            </a:r>
            <a:endParaRPr lang="en-US" altLang="en-US" sz="2400" dirty="0">
              <a:solidFill>
                <a:schemeClr val="tx1"/>
              </a:solidFill>
              <a:uFillTx/>
              <a:latin typeface="Calibri" panose="020F050202020403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Github</a:t>
            </a:r>
            <a:r>
              <a:rPr lang="en-US" dirty="0"/>
              <a:t> link</a:t>
            </a:r>
            <a:endParaRPr lang="en-IN" dirty="0"/>
          </a:p>
        </p:txBody>
      </p:sp>
      <p:sp>
        <p:nvSpPr>
          <p:cNvPr id="3" name="Content Placeholder 2"/>
          <p:cNvSpPr>
            <a:spLocks noGrp="1"/>
          </p:cNvSpPr>
          <p:nvPr>
            <p:ph idx="1"/>
          </p:nvPr>
        </p:nvSpPr>
        <p:spPr/>
        <p:txBody>
          <a:bodyPr/>
          <a:lstStyle/>
          <a:p>
            <a:r>
              <a:rPr lang="en-IN" sz="2400" dirty="0" err="1">
                <a:solidFill>
                  <a:schemeClr val="tx1">
                    <a:lumMod val="75000"/>
                    <a:lumOff val="25000"/>
                  </a:schemeClr>
                </a:solidFill>
                <a:uFillTx/>
                <a:latin typeface="Calibri" panose="020F0502020204030204" pitchFamily="34" charset="0"/>
              </a:rPr>
              <a:t>Github</a:t>
            </a:r>
            <a:r>
              <a:rPr lang="en-IN" sz="2400" dirty="0">
                <a:solidFill>
                  <a:schemeClr val="tx1">
                    <a:lumMod val="75000"/>
                    <a:lumOff val="25000"/>
                  </a:schemeClr>
                </a:solidFill>
                <a:uFillTx/>
                <a:latin typeface="Calibri" panose="020F0502020204030204" pitchFamily="34" charset="0"/>
              </a:rPr>
              <a:t> Link :</a:t>
            </a:r>
            <a:r>
              <a:rPr lang="en-US" altLang="en-IN" sz="2400" dirty="0">
                <a:solidFill>
                  <a:schemeClr val="tx1">
                    <a:lumMod val="75000"/>
                    <a:lumOff val="25000"/>
                  </a:schemeClr>
                </a:solidFill>
                <a:uFillTx/>
                <a:latin typeface="Calibri" panose="020F0502020204030204" pitchFamily="34" charset="0"/>
              </a:rPr>
              <a:t>  </a:t>
            </a:r>
            <a:r>
              <a:rPr lang="en-US" altLang="en-US" sz="2400" dirty="0">
                <a:solidFill>
                  <a:schemeClr val="tx1">
                    <a:lumMod val="75000"/>
                    <a:lumOff val="25000"/>
                  </a:schemeClr>
                </a:solidFill>
                <a:uFillTx/>
                <a:latin typeface="Calibri" panose="020F0502020204030204" pitchFamily="34" charset="0"/>
              </a:rPr>
              <a:t>https://github.com/Abhi2203-Engg/AI-ML-Project.git</a:t>
            </a:r>
            <a:endParaRPr lang="en-US" altLang="en-US" sz="2400" dirty="0">
              <a:solidFill>
                <a:schemeClr val="tx1">
                  <a:lumMod val="75000"/>
                  <a:lumOff val="25000"/>
                </a:schemeClr>
              </a:solidFill>
              <a:uFillTx/>
              <a:latin typeface="Calibri" panose="020F0502020204030204" pitchFamily="34" charset="0"/>
            </a:endParaRPr>
          </a:p>
          <a:p>
            <a:r>
              <a:rPr lang="en-IN" sz="2400" dirty="0">
                <a:solidFill>
                  <a:schemeClr val="tx1">
                    <a:lumMod val="75000"/>
                    <a:lumOff val="25000"/>
                  </a:schemeClr>
                </a:solidFill>
                <a:uFillTx/>
                <a:latin typeface="Calibri" panose="020F0502020204030204" pitchFamily="34" charset="0"/>
              </a:rPr>
              <a:t>Deployment Link: </a:t>
            </a:r>
            <a:r>
              <a:rPr lang="en-US" altLang="en-IN" sz="2400" dirty="0">
                <a:solidFill>
                  <a:schemeClr val="tx1">
                    <a:lumMod val="75000"/>
                    <a:lumOff val="25000"/>
                  </a:schemeClr>
                </a:solidFill>
                <a:uFillTx/>
                <a:latin typeface="Calibri" panose="020F0502020204030204" pitchFamily="34" charset="0"/>
              </a:rPr>
              <a:t> </a:t>
            </a:r>
            <a:r>
              <a:rPr lang="en-IN" sz="2400" dirty="0" err="1">
                <a:solidFill>
                  <a:schemeClr val="tx1">
                    <a:lumMod val="75000"/>
                    <a:lumOff val="25000"/>
                  </a:schemeClr>
                </a:solidFill>
                <a:uFillTx/>
                <a:latin typeface="Calibri" panose="020F0502020204030204" pitchFamily="34" charset="0"/>
              </a:rPr>
              <a:t>Streamlit</a:t>
            </a:r>
            <a:r>
              <a:rPr lang="en-IN" sz="2400" dirty="0">
                <a:solidFill>
                  <a:schemeClr val="tx1">
                    <a:lumMod val="75000"/>
                    <a:lumOff val="25000"/>
                  </a:schemeClr>
                </a:solidFill>
                <a:uFillTx/>
                <a:latin typeface="Calibri" panose="020F0502020204030204" pitchFamily="34" charset="0"/>
              </a:rPr>
              <a:t> link</a:t>
            </a:r>
            <a:r>
              <a:rPr lang="en-US" altLang="en-IN" sz="2400" dirty="0">
                <a:solidFill>
                  <a:schemeClr val="tx1">
                    <a:lumMod val="75000"/>
                    <a:lumOff val="25000"/>
                  </a:schemeClr>
                </a:solidFill>
                <a:uFillTx/>
                <a:latin typeface="Calibri" panose="020F0502020204030204" pitchFamily="34" charset="0"/>
              </a:rPr>
              <a:t>:-</a:t>
            </a:r>
            <a:r>
              <a:rPr lang="en-US" altLang="en-US" sz="2400" dirty="0">
                <a:solidFill>
                  <a:schemeClr val="tx1">
                    <a:lumMod val="75000"/>
                    <a:lumOff val="25000"/>
                  </a:schemeClr>
                </a:solidFill>
                <a:uFillTx/>
                <a:latin typeface="Calibri" panose="020F0502020204030204" pitchFamily="34" charset="0"/>
              </a:rPr>
              <a:t>https://ai-ml-project-8czaw4e798ez6bqnruysdv.streamlit.app/</a:t>
            </a:r>
            <a:endParaRPr lang="en-US" altLang="en-US" sz="2400" dirty="0">
              <a:solidFill>
                <a:schemeClr val="tx1">
                  <a:lumMod val="75000"/>
                  <a:lumOff val="25000"/>
                </a:schemeClr>
              </a:solidFill>
              <a:uFillTx/>
              <a:latin typeface="Calibri" panose="020F050202020403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463041" y="2766218"/>
            <a:ext cx="9298744" cy="1325563"/>
          </a:xfrm>
        </p:spPr>
        <p:txBody>
          <a:bodyPr/>
          <a:lstStyle/>
          <a:p>
            <a:pPr algn="ctr"/>
            <a:r>
              <a:rPr lang="en-US" b="1">
                <a:solidFill>
                  <a:srgbClr val="002060"/>
                </a:solidFill>
                <a:latin typeface="Arial" panose="020B0604020202020204" pitchFamily="34" charset="0"/>
                <a:cs typeface="Arial" panose="020B0604020202020204" pitchFamily="34" charset="0"/>
              </a:rPr>
              <a:t>THANK YOU</a:t>
            </a:r>
            <a:endParaRPr lang="en-US" b="1">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Props1.xml><?xml version="1.0" encoding="utf-8"?>
<ds:datastoreItem xmlns:ds="http://schemas.openxmlformats.org/officeDocument/2006/customXml" ds:itemID="{6E816721-11E4-4989-8472-AB5A7EC20404}">
  <ds:schemaRefs/>
</ds:datastoreItem>
</file>

<file path=customXml/itemProps2.xml><?xml version="1.0" encoding="utf-8"?>
<ds:datastoreItem xmlns:ds="http://schemas.openxmlformats.org/officeDocument/2006/customXml" ds:itemID="{927BD4C1-B6B1-4715-ABF9-E660A51A4EA0}">
  <ds:schemaRefs/>
</ds:datastoreItem>
</file>

<file path=customXml/itemProps3.xml><?xml version="1.0" encoding="utf-8"?>
<ds:datastoreItem xmlns:ds="http://schemas.openxmlformats.org/officeDocument/2006/customXml" ds:itemID="{8D289AE2-D2AE-49D1-AFAC-3A79F6794255}">
  <ds:schemaRefs/>
</ds:datastoreItem>
</file>

<file path=docProps/app.xml><?xml version="1.0" encoding="utf-8"?>
<Properties xmlns="http://schemas.openxmlformats.org/officeDocument/2006/extended-properties" xmlns:vt="http://schemas.openxmlformats.org/officeDocument/2006/docPropsVTypes">
  <Template>Future forward</Template>
  <TotalTime>0</TotalTime>
  <Words>3574</Words>
  <Application>WPS Presentation</Application>
  <PresentationFormat>Widescreen</PresentationFormat>
  <Paragraphs>100</Paragraphs>
  <Slides>12</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12</vt:i4>
      </vt:variant>
    </vt:vector>
  </HeadingPairs>
  <TitlesOfParts>
    <vt:vector size="29" baseType="lpstr">
      <vt:lpstr>Arial</vt:lpstr>
      <vt:lpstr>SimSun</vt:lpstr>
      <vt:lpstr>Wingdings</vt:lpstr>
      <vt:lpstr>Wingdings 2</vt:lpstr>
      <vt:lpstr>Wingdings</vt:lpstr>
      <vt:lpstr>Arial</vt:lpstr>
      <vt:lpstr>Calibri</vt:lpstr>
      <vt:lpstr>Calibri</vt:lpstr>
      <vt:lpstr>Calibri Light</vt:lpstr>
      <vt:lpstr>Microsoft YaHei</vt:lpstr>
      <vt:lpstr>Arial Unicode MS</vt:lpstr>
      <vt:lpstr>Franklin Gothic Demi</vt:lpstr>
      <vt:lpstr>Segoe Print</vt:lpstr>
      <vt:lpstr>Franklin Gothic Book</vt:lpstr>
      <vt:lpstr>AsianTextFont</vt:lpstr>
      <vt:lpstr>Asian</vt:lpstr>
      <vt:lpstr>DividendVTI</vt:lpstr>
      <vt:lpstr>Project title</vt:lpstr>
      <vt:lpstr>OUTLINE</vt:lpstr>
      <vt:lpstr>Problem Statement</vt:lpstr>
      <vt:lpstr>Proposed Solution</vt:lpstr>
      <vt:lpstr>System  Approach</vt:lpstr>
      <vt:lpstr>Algorithm &amp; Deployment</vt:lpstr>
      <vt:lpstr>Result</vt:lpstr>
      <vt:lpstr>Conclusion</vt:lpstr>
      <vt:lpstr>PowerPoint 演示文稿</vt:lpstr>
      <vt:lpstr>References</vt:lpstr>
      <vt:lpstr>Github link</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D_COMP_RSL-14</cp:lastModifiedBy>
  <cp:revision>39</cp:revision>
  <dcterms:created xsi:type="dcterms:W3CDTF">2021-05-26T16:50:00Z</dcterms:created>
  <dcterms:modified xsi:type="dcterms:W3CDTF">2026-02-25T09:16:50Z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y fmtid="{D5CDD505-2E9C-101B-9397-08002B2CF9AE}" pid="3" name="ICV">
    <vt:lpwstr>E6EFAA62733A4411B311B9DE79C84171_13</vt:lpwstr>
  </property>
  <property fmtid="{D5CDD505-2E9C-101B-9397-08002B2CF9AE}" pid="4" name="KSOProductBuildVer">
    <vt:lpwstr>1033-12.2.0.23196</vt:lpwstr>
  </property>
</Properties>
</file>